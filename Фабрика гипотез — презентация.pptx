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800" b="1">
                <a:solidFill>
                  <a:srgbClr val="E6EDF3"/>
                </a:solidFill>
                <a:latin typeface="Segoe UI"/>
              </a:rPr>
              <a:t>«Фабрика гипотез»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33272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0">
                <a:solidFill>
                  <a:srgbClr val="8B98A9"/>
                </a:solidFill>
                <a:latin typeface="Segoe UI"/>
              </a:rPr>
              <a:t>Интерпретируемая GraphRAG-система генерации и ранжирования проверяемых НИОКР-гипотез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60520"/>
            <a:ext cx="2048255" cy="402336"/>
          </a:xfrm>
          <a:prstGeom prst="roundRect">
            <a:avLst>
              <a:gd name="adj" fmla="val 50000"/>
            </a:avLst>
          </a:prstGeom>
          <a:solidFill>
            <a:srgbClr val="1C2330"/>
          </a:solidFill>
          <a:ln w="12700">
            <a:solidFill>
              <a:srgbClr val="2D3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7D9A3"/>
                </a:solidFill>
                <a:latin typeface="Segoe UI"/>
              </a:rPr>
              <a:t>Диагностика потерь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27248" y="4160520"/>
            <a:ext cx="1376172" cy="402336"/>
          </a:xfrm>
          <a:prstGeom prst="roundRect">
            <a:avLst>
              <a:gd name="adj" fmla="val 50000"/>
            </a:avLst>
          </a:prstGeom>
          <a:solidFill>
            <a:srgbClr val="1C2330"/>
          </a:solidFill>
          <a:ln w="12700">
            <a:solidFill>
              <a:srgbClr val="2D3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7D9A3"/>
                </a:solidFill>
                <a:latin typeface="Segoe UI"/>
              </a:rPr>
              <a:t>Граф знаний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8012" y="4160520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1C2330"/>
          </a:solidFill>
          <a:ln w="12700">
            <a:solidFill>
              <a:srgbClr val="2D3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7D9A3"/>
                </a:solidFill>
                <a:latin typeface="Segoe UI"/>
              </a:rPr>
              <a:t>GraphRAG · YandexGPT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72883" y="4160520"/>
            <a:ext cx="2528316" cy="402336"/>
          </a:xfrm>
          <a:prstGeom prst="roundRect">
            <a:avLst>
              <a:gd name="adj" fmla="val 50000"/>
            </a:avLst>
          </a:prstGeom>
          <a:solidFill>
            <a:srgbClr val="1C2330"/>
          </a:solidFill>
          <a:ln w="12700">
            <a:solidFill>
              <a:srgbClr val="2D3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7D9A3"/>
                </a:solidFill>
                <a:latin typeface="Segoe UI"/>
              </a:rPr>
              <a:t>Прозрачное ранжирование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65792" y="4160520"/>
            <a:ext cx="1952243" cy="402336"/>
          </a:xfrm>
          <a:prstGeom prst="roundRect">
            <a:avLst>
              <a:gd name="adj" fmla="val 50000"/>
            </a:avLst>
          </a:prstGeom>
          <a:solidFill>
            <a:srgbClr val="1C2330"/>
          </a:solidFill>
          <a:ln w="12700">
            <a:solidFill>
              <a:srgbClr val="2D3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57D9A3"/>
                </a:solidFill>
                <a:latin typeface="Segoe UI"/>
              </a:rPr>
              <a:t>Эксперт в контуре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10332720" cy="10972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E6EDF3"/>
                </a:solidFill>
                <a:latin typeface="Segoe UI"/>
              </a:rPr>
              <a:t>AI-хакатон «Норникель» · Задача 1 «Фабрика гипотез» · июль 2026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8B98A9"/>
                </a:solidFill>
                <a:latin typeface="Segoe UI"/>
              </a:rPr>
              <a:t>Команда kartunovv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4DA3FF"/>
                </a:solidFill>
                <a:latin typeface="Segoe UI"/>
              </a:rPr>
              <a:t>github.com/kartunovv/nornickel-hackathon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685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>
                <a:solidFill>
                  <a:srgbClr val="E6EDF3"/>
                </a:solidFill>
                <a:latin typeface="Segoe UI"/>
              </a:rPr>
              <a:t>Проблема: исследовательская повестка рождается вручную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371600" cy="32004"/>
          </a:xfrm>
          <a:prstGeom prst="rect">
            <a:avLst/>
          </a:prstGeom>
          <a:solidFill>
            <a:srgbClr val="F7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Фабрика гипотез · AI-хакатон «Норникель» · Задача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4572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6492240" cy="5029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600" b="1">
                <a:solidFill>
                  <a:srgbClr val="F7768E"/>
                </a:solidFill>
                <a:latin typeface="Segoe UI"/>
              </a:rPr>
              <a:t>•  </a:t>
            </a:r>
            <a:r>
              <a:rPr sz="1600" b="0">
                <a:solidFill>
                  <a:srgbClr val="E6EDF3"/>
                </a:solidFill>
                <a:latin typeface="Segoe UI"/>
              </a:rPr>
              <a:t>Гипотезы формируются на мозговых штурмах — субъективно, невоспроизводимо, зависит от опыта отдельных экспертов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600" b="1">
                <a:solidFill>
                  <a:srgbClr val="F7768E"/>
                </a:solidFill>
                <a:latin typeface="Segoe UI"/>
              </a:rPr>
              <a:t>•  </a:t>
            </a:r>
            <a:r>
              <a:rPr sz="1600" b="0">
                <a:solidFill>
                  <a:srgbClr val="E6EDF3"/>
                </a:solidFill>
                <a:latin typeface="Segoe UI"/>
              </a:rPr>
              <a:t>Архивы отчётов и экспериментов лежат мёртвым грузом и не работают на новые идеи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600" b="1">
                <a:solidFill>
                  <a:srgbClr val="F7768E"/>
                </a:solidFill>
                <a:latin typeface="Segoe UI"/>
              </a:rPr>
              <a:t>•  </a:t>
            </a:r>
            <a:r>
              <a:rPr sz="1600" b="0">
                <a:solidFill>
                  <a:srgbClr val="E6EDF3"/>
                </a:solidFill>
                <a:latin typeface="Segoe UI"/>
              </a:rPr>
              <a:t>Нет единого формата обоснования: новизну, риски и ценность гипотез нельзя сравнить между собой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600" b="1">
                <a:solidFill>
                  <a:srgbClr val="F7768E"/>
                </a:solidFill>
                <a:latin typeface="Segoe UI"/>
              </a:rPr>
              <a:t>•  </a:t>
            </a:r>
            <a:r>
              <a:rPr sz="1600" b="0">
                <a:solidFill>
                  <a:srgbClr val="E6EDF3"/>
                </a:solidFill>
                <a:latin typeface="Segoe UI"/>
              </a:rPr>
              <a:t>Известные решения дублируются, перспективные направления теряются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600" b="1">
                <a:solidFill>
                  <a:srgbClr val="F7768E"/>
                </a:solidFill>
                <a:latin typeface="Segoe UI"/>
              </a:rPr>
              <a:t>•  </a:t>
            </a:r>
            <a:r>
              <a:rPr sz="1600" b="0">
                <a:solidFill>
                  <a:srgbClr val="E6EDF3"/>
                </a:solidFill>
                <a:latin typeface="Segoe UI"/>
              </a:rPr>
              <a:t>Итог: недели на формирование и согласование повестки НИОКР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4343400" cy="4206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D3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600200"/>
            <a:ext cx="3794760" cy="3840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00" b="0">
                <a:solidFill>
                  <a:srgbClr val="8B98A9"/>
                </a:solidFill>
                <a:latin typeface="Segoe UI"/>
              </a:rPr>
              <a:t>Цена вопроса — пример одной фабрики (КГМК, данные кейса):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10 392 т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250" b="0">
                <a:solidFill>
                  <a:srgbClr val="8B98A9"/>
                </a:solidFill>
                <a:latin typeface="Segoe UI"/>
              </a:rPr>
              <a:t>никеля потеряно с хвостами за период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4 230 т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250" b="0">
                <a:solidFill>
                  <a:srgbClr val="8B98A9"/>
                </a:solidFill>
                <a:latin typeface="Segoe UI"/>
              </a:rPr>
              <a:t>меди потеряно с хвостами за период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F7768E"/>
                </a:solidFill>
                <a:latin typeface="Segoe UI"/>
              </a:rPr>
              <a:t>≈ $210 млн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8B98A9"/>
                </a:solidFill>
                <a:latin typeface="Segoe UI"/>
              </a:rPr>
              <a:t>по биржевым ценам металлов — потенциал, который должна закрывать сильная повестка НИОКР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685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>
                <a:solidFill>
                  <a:srgbClr val="E6EDF3"/>
                </a:solidFill>
                <a:latin typeface="Segoe UI"/>
              </a:rPr>
              <a:t>Решение: из KPI и базы знаний — проверяемые гипотезы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371600" cy="32004"/>
          </a:xfrm>
          <a:prstGeom prst="rect">
            <a:avLst/>
          </a:prstGeom>
          <a:solidFill>
            <a:srgbClr val="57D9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Фабрика гипотез · AI-хакатон «Норникель» · Задача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4572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520440" cy="46634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D3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2971800" cy="4206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4DA3FF"/>
                </a:solidFill>
                <a:latin typeface="Segoe UI"/>
              </a:rPr>
              <a:t>ВХОД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0">
                <a:solidFill>
                  <a:srgbClr val="E6EDF3"/>
                </a:solidFill>
                <a:latin typeface="Segoe UI"/>
              </a:rPr>
              <a:t>Отчёт института по хвостам (.xlsx): потоки × классы крупности × минералогия потерь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0">
                <a:solidFill>
                  <a:srgbClr val="E6EDF3"/>
                </a:solidFill>
                <a:latin typeface="Segoe UI"/>
              </a:rPr>
              <a:t>Целевой KPI и ограничения свободным текстом (или автоопределение по отчёту)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Segoe UI"/>
              </a:rPr>
              <a:t>База знаний: учебники по обогащению (PDF), регламенты (DOCX), исторические гипотезы фабрик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60520" y="3657600"/>
            <a:ext cx="457200" cy="0"/>
          </a:xfrm>
          <a:prstGeom prst="line">
            <a:avLst/>
          </a:prstGeom>
          <a:ln w="22225">
            <a:solidFill>
              <a:srgbClr val="4DA3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709160" y="1325880"/>
            <a:ext cx="3520440" cy="46634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D3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1554480"/>
            <a:ext cx="2971800" cy="4206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57D9A3"/>
                </a:solidFill>
                <a:latin typeface="Segoe UI"/>
              </a:rPr>
              <a:t>ВЫХОД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350" b="0">
                <a:solidFill>
                  <a:srgbClr val="E6EDF3"/>
                </a:solidFill>
                <a:latin typeface="Segoe UI"/>
              </a:rPr>
              <a:t>Ранжированный список проверяемых гипотез, у каждой: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8B98A9"/>
                </a:solidFill>
                <a:latin typeface="Segoe UI"/>
              </a:rPr>
              <a:t>— механизм влияния и обоснование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8B98A9"/>
                </a:solidFill>
                <a:latin typeface="Segoe UI"/>
              </a:rPr>
              <a:t>— цитаты из литературы (книга + страница)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8B98A9"/>
                </a:solidFill>
                <a:latin typeface="Segoe UI"/>
              </a:rPr>
              <a:t>— эффект в тоннах металла и % потерь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8B98A9"/>
                </a:solidFill>
                <a:latin typeface="Segoe UI"/>
              </a:rPr>
              <a:t>— риски и дорожная карта лабораторной проверки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8B98A9"/>
                </a:solidFill>
                <a:latin typeface="Segoe UI"/>
              </a:rPr>
              <a:t>— прозрачный разбор оценки по 5 критериям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8B98A9"/>
                </a:solidFill>
                <a:latin typeface="Segoe UI"/>
              </a:rPr>
              <a:t>— подграф графа знаний («карточка доказательств»)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21040" y="3657600"/>
            <a:ext cx="457200" cy="0"/>
          </a:xfrm>
          <a:prstGeom prst="line">
            <a:avLst/>
          </a:prstGeom>
          <a:ln w="22225">
            <a:solidFill>
              <a:srgbClr val="57D9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869680" y="1325880"/>
            <a:ext cx="2788920" cy="46634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D3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554480"/>
            <a:ext cx="2240280" cy="4206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FFB454"/>
                </a:solidFill>
                <a:latin typeface="Segoe UI"/>
              </a:rPr>
              <a:t>ЭКСПОРТ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E6EDF3"/>
                </a:solidFill>
                <a:latin typeface="Segoe UI"/>
              </a:rPr>
              <a:t>Веб-интерфейс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E6EDF3"/>
                </a:solidFill>
                <a:latin typeface="Segoe UI"/>
              </a:rPr>
              <a:t>DOCX-отчёт для бизнеса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E6EDF3"/>
                </a:solidFill>
                <a:latin typeface="Segoe UI"/>
              </a:rPr>
              <a:t>CSV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E6EDF3"/>
                </a:solidFill>
                <a:latin typeface="Segoe UI"/>
              </a:rPr>
              <a:t>JSON-задачи (Jira / YouTrack)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350" b="0">
                <a:solidFill>
                  <a:srgbClr val="E6EDF3"/>
                </a:solidFill>
                <a:latin typeface="Segoe UI"/>
              </a:rPr>
              <a:t>Фидбэк экспертов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57D9A3"/>
                </a:solidFill>
                <a:latin typeface="Segoe UI"/>
              </a:rPr>
              <a:t>Первичный набор гипотез — за минуты, не часы: демо 16 гипотез за 122 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685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>
                <a:solidFill>
                  <a:srgbClr val="E6EDF3"/>
                </a:solidFill>
                <a:latin typeface="Segoe UI"/>
              </a:rPr>
              <a:t>Архитектура: четыре шага от отчёта до повестки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371600" cy="32004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Фабрика гипотез · AI-хакатон «Норникель» · Задача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4572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37744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6510">
            <a:solidFill>
              <a:srgbClr val="8B9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8B98A9"/>
                </a:solidFill>
                <a:latin typeface="Segoe UI"/>
              </a:rPr>
              <a:t>Отчёт .xlsx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8B98A9"/>
                </a:solidFill>
                <a:latin typeface="Segoe UI"/>
              </a:rPr>
              <a:t>потоки хвостов, классы крупности, минералогия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237744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6510">
            <a:solidFill>
              <a:srgbClr val="8B9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8B98A9"/>
                </a:solidFill>
                <a:latin typeface="Segoe UI"/>
              </a:rPr>
              <a:t>Литература PDF/DOCX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8B98A9"/>
                </a:solidFill>
                <a:latin typeface="Segoe UI"/>
              </a:rPr>
              <a:t>учебники, регламенты, история гипотез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1938528"/>
            <a:ext cx="594360" cy="0"/>
          </a:xfrm>
          <a:prstGeom prst="line">
            <a:avLst/>
          </a:prstGeom>
          <a:ln w="22225">
            <a:solidFill>
              <a:srgbClr val="8B98A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3355848"/>
            <a:ext cx="594360" cy="0"/>
          </a:xfrm>
          <a:prstGeom prst="line">
            <a:avLst/>
          </a:prstGeom>
          <a:ln w="22225">
            <a:solidFill>
              <a:srgbClr val="8B98A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11880" y="1371600"/>
            <a:ext cx="283464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651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FFB454"/>
                </a:solidFill>
                <a:latin typeface="Segoe UI"/>
              </a:rPr>
              <a:t>1 · Диагностика потерь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8B98A9"/>
                </a:solidFill>
                <a:latin typeface="Segoe UI"/>
              </a:rPr>
              <a:t>интерпретируемые правила → сигналы: где и почему теряется металл, в тоннах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788920"/>
            <a:ext cx="283464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6510">
            <a:solidFill>
              <a:srgbClr val="C79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C792EA"/>
                </a:solidFill>
                <a:latin typeface="Segoe UI"/>
              </a:rPr>
              <a:t>2 · База знаний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8B98A9"/>
                </a:solidFill>
                <a:latin typeface="Segoe UI"/>
              </a:rPr>
              <a:t>векторный индекс (эмбеддинги) + граф знаний: онтология + LLM-извлечение связей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057400"/>
            <a:ext cx="2377440" cy="12344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6510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4DA3FF"/>
                </a:solidFill>
                <a:latin typeface="Segoe UI"/>
              </a:rPr>
              <a:t>3 · GraphRAG-генерация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8B98A9"/>
                </a:solidFill>
                <a:latin typeface="Segoe UI"/>
              </a:rPr>
              <a:t>YandexGPT: сигнал + подграф + цитаты → проверяемое утверждение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46520" y="1938528"/>
            <a:ext cx="457200" cy="438912"/>
          </a:xfrm>
          <a:prstGeom prst="line">
            <a:avLst/>
          </a:prstGeom>
          <a:ln w="22225">
            <a:solidFill>
              <a:srgbClr val="8B98A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446520" y="2926080"/>
            <a:ext cx="457200" cy="429768"/>
          </a:xfrm>
          <a:prstGeom prst="line">
            <a:avLst/>
          </a:prstGeom>
          <a:ln w="22225">
            <a:solidFill>
              <a:srgbClr val="8B98A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38360" y="2057400"/>
            <a:ext cx="1920240" cy="12344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651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57D9A3"/>
                </a:solidFill>
                <a:latin typeface="Segoe UI"/>
              </a:rPr>
              <a:t>4 · Ранжирование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8B98A9"/>
                </a:solidFill>
                <a:latin typeface="Segoe UI"/>
              </a:rPr>
              <a:t>5 критериев × веса эксперта, вклад виден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81160" y="2670048"/>
            <a:ext cx="457200" cy="0"/>
          </a:xfrm>
          <a:prstGeom prst="line">
            <a:avLst/>
          </a:prstGeom>
          <a:ln w="22225">
            <a:solidFill>
              <a:srgbClr val="8B98A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903720" y="3977639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1C2330"/>
          </a:solidFill>
          <a:ln w="12700">
            <a:solidFill>
              <a:srgbClr val="2D3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50" b="0">
                <a:solidFill>
                  <a:srgbClr val="E6EDF3"/>
                </a:solidFill>
                <a:latin typeface="Segoe UI"/>
              </a:rPr>
              <a:t>Эксперт: веса · правки · принять/отклонить · экспорт DOCX / CSV / JSON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698480" y="3291840"/>
            <a:ext cx="0" cy="685799"/>
          </a:xfrm>
          <a:prstGeom prst="line">
            <a:avLst/>
          </a:prstGeom>
          <a:ln w="22225">
            <a:solidFill>
              <a:srgbClr val="57D9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5257800"/>
            <a:ext cx="1115568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8B98A9"/>
                </a:solidFill>
                <a:latin typeface="Segoe UI"/>
              </a:rPr>
              <a:t>Все компоненты локальны: векторный индекс — numpy на диске, граф — JSON, без внешних БД. LLM-слой изолирован в одном модуле и заменяется на on-prem модель в контуре заказчика.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685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>
                <a:solidFill>
                  <a:srgbClr val="E6EDF3"/>
                </a:solidFill>
                <a:latin typeface="Segoe UI"/>
              </a:rPr>
              <a:t>Шаг 1 · Диагностика: правила, проверяемые экспертом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371600" cy="32004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Фабрика гипотез · AI-хакатон «Норникель» · Задача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4572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394960" cy="5029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FFB454"/>
                </a:solidFill>
                <a:latin typeface="Segoe UI"/>
              </a:rPr>
              <a:t>•  </a:t>
            </a:r>
            <a:r>
              <a:rPr sz="1500" b="0">
                <a:solidFill>
                  <a:srgbClr val="E6EDF3"/>
                </a:solidFill>
                <a:latin typeface="Segoe UI"/>
              </a:rPr>
              <a:t>Явные правила по классам крупности × минеральным формам — никакого чёрного ящика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FFB454"/>
                </a:solidFill>
                <a:latin typeface="Segoe UI"/>
              </a:rPr>
              <a:t>•  </a:t>
            </a:r>
            <a:r>
              <a:rPr sz="1500" b="0">
                <a:solidFill>
                  <a:srgbClr val="E6EDF3"/>
                </a:solidFill>
                <a:latin typeface="Segoe UI"/>
              </a:rPr>
              <a:t>Каждый сигнал квантифицирован: тонны металла и % потерь потока — цифры сверяются с отчётом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FFB454"/>
                </a:solidFill>
                <a:latin typeface="Segoe UI"/>
              </a:rPr>
              <a:t>•  </a:t>
            </a:r>
            <a:r>
              <a:rPr sz="1500" b="0">
                <a:solidFill>
                  <a:srgbClr val="E6EDF3"/>
                </a:solidFill>
                <a:latin typeface="Segoe UI"/>
              </a:rPr>
              <a:t>Устойчивость к «шумным» данным: #REF!, пропуски, разные структуры листов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FFB454"/>
                </a:solidFill>
                <a:latin typeface="Segoe UI"/>
              </a:rPr>
              <a:t>•  </a:t>
            </a:r>
            <a:r>
              <a:rPr sz="1500" b="0">
                <a:solidFill>
                  <a:srgbClr val="E6EDF3"/>
                </a:solidFill>
                <a:latin typeface="Segoe UI"/>
              </a:rPr>
              <a:t>Сигналы = точки входа для генерации: гипотезы отвечают на конкретную проблему, а не на «всё сразу»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394960" cy="987552"/>
          </a:xfrm>
          <a:prstGeom prst="roundRect">
            <a:avLst>
              <a:gd name="adj" fmla="val 6000"/>
            </a:avLst>
          </a:prstGeom>
          <a:solidFill>
            <a:srgbClr val="1C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E6EDF3"/>
                </a:solidFill>
                <a:latin typeface="Segoe UI"/>
              </a:rPr>
              <a:t>Высокая доля шламового класса −10 мкм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8B98A9"/>
                </a:solidFill>
                <a:latin typeface="Segoe UI"/>
              </a:rPr>
              <a:t>переизмельчение → флотация упускает тонкие частицы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25880"/>
            <a:ext cx="45720" cy="987552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2496312"/>
            <a:ext cx="5394960" cy="987552"/>
          </a:xfrm>
          <a:prstGeom prst="roundRect">
            <a:avLst>
              <a:gd name="adj" fmla="val 6000"/>
            </a:avLst>
          </a:prstGeom>
          <a:solidFill>
            <a:srgbClr val="1C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E6EDF3"/>
                </a:solidFill>
                <a:latin typeface="Segoe UI"/>
              </a:rPr>
              <a:t>Закрытые сростки Ni в крупных классах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8B98A9"/>
                </a:solidFill>
                <a:latin typeface="Segoe UI"/>
              </a:rPr>
              <a:t>недораскрытие при измельчении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496312"/>
            <a:ext cx="45720" cy="987552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3666744"/>
            <a:ext cx="5394960" cy="987552"/>
          </a:xfrm>
          <a:prstGeom prst="roundRect">
            <a:avLst>
              <a:gd name="adj" fmla="val 6000"/>
            </a:avLst>
          </a:prstGeom>
          <a:solidFill>
            <a:srgbClr val="1C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E6EDF3"/>
                </a:solidFill>
                <a:latin typeface="Segoe UI"/>
              </a:rPr>
              <a:t>Раскрытый Ni в шламах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8B98A9"/>
                </a:solidFill>
                <a:latin typeface="Segoe UI"/>
              </a:rPr>
              <a:t>потери флотации тонких классов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666744"/>
            <a:ext cx="45720" cy="987552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4837176"/>
            <a:ext cx="5394960" cy="987552"/>
          </a:xfrm>
          <a:prstGeom prst="roundRect">
            <a:avLst>
              <a:gd name="adj" fmla="val 6000"/>
            </a:avLst>
          </a:prstGeom>
          <a:solidFill>
            <a:srgbClr val="1C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E6EDF3"/>
                </a:solidFill>
                <a:latin typeface="Segoe UI"/>
              </a:rPr>
              <a:t>2 552 т Ni в неизвлекаемых формах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8B98A9"/>
                </a:solidFill>
                <a:latin typeface="Segoe UI"/>
              </a:rPr>
              <a:t>силикаты/валлериит — текущая технология не берёт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4837176"/>
            <a:ext cx="45720" cy="987552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6025896"/>
            <a:ext cx="53949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8B98A9"/>
                </a:solidFill>
                <a:latin typeface="Segoe UI"/>
              </a:rPr>
              <a:t>реальные сигналы прогона по фабрике КГМК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685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>
                <a:solidFill>
                  <a:srgbClr val="E6EDF3"/>
                </a:solidFill>
                <a:latin typeface="Segoe UI"/>
              </a:rPr>
              <a:t>Шаг 2 · Граф знаний: карта «что на что и как влияет»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371600" cy="32004"/>
          </a:xfrm>
          <a:prstGeom prst="rect">
            <a:avLst/>
          </a:prstGeom>
          <a:solidFill>
            <a:srgbClr val="C79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Фабрика гипотез · AI-хакатон «Норникель» · Задача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4572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035040" cy="5029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C792EA"/>
                </a:solidFill>
                <a:latin typeface="Segoe UI"/>
              </a:rPr>
              <a:t>•  </a:t>
            </a:r>
            <a:r>
              <a:rPr sz="1500" b="0">
                <a:solidFill>
                  <a:srgbClr val="E6EDF3"/>
                </a:solidFill>
                <a:latin typeface="Segoe UI"/>
              </a:rPr>
              <a:t>Затравочная онтология флотации: минералы, операции, оборудование, параметры, механизмы, реагенты, KPI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C792EA"/>
                </a:solidFill>
                <a:latin typeface="Segoe UI"/>
              </a:rPr>
              <a:t>•  </a:t>
            </a:r>
            <a:r>
              <a:rPr sz="1500" b="0">
                <a:solidFill>
                  <a:srgbClr val="E6EDF3"/>
                </a:solidFill>
                <a:latin typeface="Segoe UI"/>
              </a:rPr>
              <a:t>LLM достраивает связи из литературы кейса — каждая связь привязана к источнику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C792EA"/>
                </a:solidFill>
                <a:latin typeface="Segoe UI"/>
              </a:rPr>
              <a:t>•  </a:t>
            </a:r>
            <a:r>
              <a:rPr sz="1500" b="0">
                <a:solidFill>
                  <a:srgbClr val="E6EDF3"/>
                </a:solidFill>
                <a:latin typeface="Segoe UI"/>
              </a:rPr>
              <a:t>Подграф гипотезы = «карточка доказательств»: видно, через какие механизмы рычаг влияет на KPI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C792EA"/>
                </a:solidFill>
                <a:latin typeface="Segoe UI"/>
              </a:rPr>
              <a:t>•  </a:t>
            </a:r>
            <a:r>
              <a:rPr sz="1500" b="0">
                <a:solidFill>
                  <a:srgbClr val="E6EDF3"/>
                </a:solidFill>
                <a:latin typeface="Segoe UI"/>
              </a:rPr>
              <a:t>Интерактивная визуализация в веб-интерфейсе (перетаскивание, масштаб, описания узлов)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C792EA"/>
                </a:solidFill>
                <a:latin typeface="Segoe UI"/>
              </a:rPr>
              <a:t>•  </a:t>
            </a:r>
            <a:r>
              <a:rPr sz="1500" b="0">
                <a:solidFill>
                  <a:srgbClr val="E6EDF3"/>
                </a:solidFill>
                <a:latin typeface="Segoe UI"/>
              </a:rPr>
              <a:t>Накапливаемый корпоративный актив: граф переиспользуется между проектами и пополняется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417320"/>
            <a:ext cx="2194560" cy="1051560"/>
          </a:xfrm>
          <a:prstGeom prst="roundRect">
            <a:avLst>
              <a:gd name="adj" fmla="val 6000"/>
            </a:avLst>
          </a:prstGeom>
          <a:solidFill>
            <a:srgbClr val="1C2330"/>
          </a:solidFill>
          <a:ln w="12700">
            <a:solidFill>
              <a:srgbClr val="2D3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C792EA"/>
                </a:solidFill>
                <a:latin typeface="Segoe UI"/>
              </a:rPr>
              <a:t>285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8B98A9"/>
                </a:solidFill>
                <a:latin typeface="Segoe UI"/>
              </a:rPr>
              <a:t>узлов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45167" y="1417320"/>
            <a:ext cx="2194560" cy="1051560"/>
          </a:xfrm>
          <a:prstGeom prst="roundRect">
            <a:avLst>
              <a:gd name="adj" fmla="val 6000"/>
            </a:avLst>
          </a:prstGeom>
          <a:solidFill>
            <a:srgbClr val="1C2330"/>
          </a:solidFill>
          <a:ln w="12700">
            <a:solidFill>
              <a:srgbClr val="2D3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C792EA"/>
                </a:solidFill>
                <a:latin typeface="Segoe UI"/>
              </a:rPr>
              <a:t>353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8B98A9"/>
                </a:solidFill>
                <a:latin typeface="Segoe UI"/>
              </a:rPr>
              <a:t>связи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651760"/>
            <a:ext cx="2194560" cy="1051560"/>
          </a:xfrm>
          <a:prstGeom prst="roundRect">
            <a:avLst>
              <a:gd name="adj" fmla="val 6000"/>
            </a:avLst>
          </a:prstGeom>
          <a:solidFill>
            <a:srgbClr val="1C2330"/>
          </a:solidFill>
          <a:ln w="12700">
            <a:solidFill>
              <a:srgbClr val="2D3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C792EA"/>
                </a:solidFill>
                <a:latin typeface="Segoe UI"/>
              </a:rPr>
              <a:t>12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8B98A9"/>
                </a:solidFill>
                <a:latin typeface="Segoe UI"/>
              </a:rPr>
              <a:t>типов узлов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45168" y="2651760"/>
            <a:ext cx="2194560" cy="1051560"/>
          </a:xfrm>
          <a:prstGeom prst="roundRect">
            <a:avLst>
              <a:gd name="adj" fmla="val 6000"/>
            </a:avLst>
          </a:prstGeom>
          <a:solidFill>
            <a:srgbClr val="1C2330"/>
          </a:solidFill>
          <a:ln w="12700">
            <a:solidFill>
              <a:srgbClr val="2D3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C792EA"/>
                </a:solidFill>
                <a:latin typeface="Segoe UI"/>
              </a:rPr>
              <a:t>78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8B98A9"/>
                </a:solidFill>
                <a:latin typeface="Segoe UI"/>
              </a:rPr>
              <a:t>механизмов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3977639"/>
            <a:ext cx="4590288" cy="16002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D3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8B98A9"/>
                </a:solidFill>
                <a:latin typeface="Segoe UI"/>
              </a:rPr>
              <a:t>пример цепочки в графе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E6EDF3"/>
                </a:solidFill>
                <a:latin typeface="Segoe UI"/>
              </a:rPr>
              <a:t>гидроциклон → настраивает → классификацию → снижает → переизмельчение → уменьшает → потери Ni в шламах (KPI)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685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>
                <a:solidFill>
                  <a:srgbClr val="E6EDF3"/>
                </a:solidFill>
                <a:latin typeface="Segoe UI"/>
              </a:rPr>
              <a:t>Шаг 3 · GraphRAG: LLM формулирует, но не фантазирует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371600" cy="32004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Фабрика гипотез · AI-хакатон «Норникель» · Задача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4572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852160" cy="5029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4DA3FF"/>
                </a:solidFill>
                <a:latin typeface="Segoe UI"/>
              </a:rPr>
              <a:t>•  </a:t>
            </a:r>
            <a:r>
              <a:rPr sz="1500" b="0">
                <a:solidFill>
                  <a:srgbClr val="E6EDF3"/>
                </a:solidFill>
                <a:latin typeface="Segoe UI"/>
              </a:rPr>
              <a:t>YandexGPT получает строго ограниченный контекст: сигнал + релевантный подграф + выдержки из литературы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4DA3FF"/>
                </a:solidFill>
                <a:latin typeface="Segoe UI"/>
              </a:rPr>
              <a:t>•  </a:t>
            </a:r>
            <a:r>
              <a:rPr sz="1500" b="0">
                <a:solidFill>
                  <a:srgbClr val="E6EDF3"/>
                </a:solidFill>
                <a:latin typeface="Segoe UI"/>
              </a:rPr>
              <a:t>Каждая гипотеза — проверяемое утверждение: «изменение X снизит потери за счёт механизма Z»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4DA3FF"/>
                </a:solidFill>
                <a:latin typeface="Segoe UI"/>
              </a:rPr>
              <a:t>•  </a:t>
            </a:r>
            <a:r>
              <a:rPr sz="1500" b="0">
                <a:solidFill>
                  <a:srgbClr val="E6EDF3"/>
                </a:solidFill>
                <a:latin typeface="Segoe UI"/>
              </a:rPr>
              <a:t>Обязательные цитаты: книга + страница; без источника гипотеза честно помечается «опирается на граф»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4DA3FF"/>
                </a:solidFill>
                <a:latin typeface="Segoe UI"/>
              </a:rPr>
              <a:t>•  </a:t>
            </a:r>
            <a:r>
              <a:rPr sz="1500" b="0">
                <a:solidFill>
                  <a:srgbClr val="E6EDF3"/>
                </a:solidFill>
                <a:latin typeface="Segoe UI"/>
              </a:rPr>
              <a:t>Автоотбраковка: рычаги, технически неприменимые к форме потерь (например, флотация для силикатов), отбрасываются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4DA3FF"/>
                </a:solidFill>
                <a:latin typeface="Segoe UI"/>
              </a:rPr>
              <a:t>•  </a:t>
            </a:r>
            <a:r>
              <a:rPr sz="1500" b="0">
                <a:solidFill>
                  <a:srgbClr val="E6EDF3"/>
                </a:solidFill>
                <a:latin typeface="Segoe UI"/>
              </a:rPr>
              <a:t>Стиль формулировок — как на мозговых штурмах фабрик (по примерам из кейса)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371600"/>
            <a:ext cx="4937760" cy="30175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D3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554480"/>
            <a:ext cx="4480560" cy="2743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 b="0">
                <a:solidFill>
                  <a:srgbClr val="8B98A9"/>
                </a:solidFill>
                <a:latin typeface="Segoe UI"/>
              </a:rPr>
              <a:t>Пример гипотезы (прогон КГМК):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E6EDF3"/>
                </a:solidFill>
                <a:latin typeface="Segoe UI"/>
              </a:rPr>
              <a:t>«Настройка гидроциклонов с уменьшением диаметра песковой насадки снизит потери Ni+Cu за счёт улучшения классификации и уменьшения переизмельчения»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8B98A9"/>
                </a:solidFill>
                <a:latin typeface="Segoe UI"/>
              </a:rPr>
              <a:t>сигнал: </a:t>
            </a:r>
            <a:r>
              <a:rPr sz="1200" b="0">
                <a:solidFill>
                  <a:srgbClr val="E6EDF3"/>
                </a:solidFill>
                <a:latin typeface="Segoe UI"/>
              </a:rPr>
              <a:t>шламовый класс −10 мкм  ·  </a:t>
            </a:r>
            <a:r>
              <a:rPr sz="1200" b="0">
                <a:solidFill>
                  <a:srgbClr val="8B98A9"/>
                </a:solidFill>
                <a:latin typeface="Segoe UI"/>
              </a:rPr>
              <a:t>эффект: </a:t>
            </a:r>
            <a:r>
              <a:rPr sz="1200" b="0">
                <a:solidFill>
                  <a:srgbClr val="E6EDF3"/>
                </a:solidFill>
                <a:latin typeface="Segoe UI"/>
              </a:rPr>
              <a:t>193–773 т Ni+Cu/период  ·  </a:t>
            </a:r>
            <a:r>
              <a:rPr sz="1200" b="0">
                <a:solidFill>
                  <a:srgbClr val="8B98A9"/>
                </a:solidFill>
                <a:latin typeface="Segoe UI"/>
              </a:rPr>
              <a:t>класс затрат: </a:t>
            </a:r>
            <a:r>
              <a:rPr sz="1200" b="0">
                <a:solidFill>
                  <a:srgbClr val="57D9A3"/>
                </a:solidFill>
                <a:latin typeface="Segoe UI"/>
              </a:rPr>
              <a:t>настройка (недели)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4663440"/>
            <a:ext cx="493776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8B98A9"/>
                </a:solidFill>
                <a:latin typeface="Segoe UI"/>
              </a:rPr>
              <a:t>Кэширование всех вызовов API на диске: повторные прогоны бесплатны и мгновенны, квота ключа не тратится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685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>
                <a:solidFill>
                  <a:srgbClr val="E6EDF3"/>
                </a:solidFill>
                <a:latin typeface="Segoe UI"/>
              </a:rPr>
              <a:t>Шаг 4 · Ранжирование: балл, который можно разобрать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371600" cy="32004"/>
          </a:xfrm>
          <a:prstGeom prst="rect">
            <a:avLst/>
          </a:prstGeom>
          <a:solidFill>
            <a:srgbClr val="57D9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Фабрика гипотез · AI-хакатон «Норникель» · Задача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4572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44168"/>
            <a:ext cx="164592" cy="164592"/>
          </a:xfrm>
          <a:prstGeom prst="rect">
            <a:avLst/>
          </a:prstGeom>
          <a:solidFill>
            <a:srgbClr val="57D9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80160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1">
                <a:solidFill>
                  <a:srgbClr val="E6EDF3"/>
                </a:solidFill>
                <a:latin typeface="Segoe UI"/>
              </a:rPr>
              <a:t>Ценность · 0.30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280160"/>
            <a:ext cx="81381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>
                <a:solidFill>
                  <a:srgbClr val="8B98A9"/>
                </a:solidFill>
                <a:latin typeface="Segoe UI"/>
              </a:rPr>
              <a:t>тонны возвращаемого металла × цена, нормировано на лучшую гипотезу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19656"/>
            <a:ext cx="164592" cy="164592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55648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1">
                <a:solidFill>
                  <a:srgbClr val="E6EDF3"/>
                </a:solidFill>
                <a:latin typeface="Segoe UI"/>
              </a:rPr>
              <a:t>Реализуемость · 0.20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755648"/>
            <a:ext cx="81381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>
                <a:solidFill>
                  <a:srgbClr val="8B98A9"/>
                </a:solidFill>
                <a:latin typeface="Segoe UI"/>
              </a:rPr>
              <a:t>настройка 1.0 · модернизация 0.6 · новый передел 0.25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95144"/>
            <a:ext cx="164592" cy="164592"/>
          </a:xfrm>
          <a:prstGeom prst="rect">
            <a:avLst/>
          </a:prstGeom>
          <a:solidFill>
            <a:srgbClr val="C79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231136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1">
                <a:solidFill>
                  <a:srgbClr val="E6EDF3"/>
                </a:solidFill>
                <a:latin typeface="Segoe UI"/>
              </a:rPr>
              <a:t>Новизна · 0.15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231136"/>
            <a:ext cx="81381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>
                <a:solidFill>
                  <a:srgbClr val="8B98A9"/>
                </a:solidFill>
                <a:latin typeface="Segoe UI"/>
              </a:rPr>
              <a:t>непохожесть на решения мозговых штурмов фабрик (эмбеддинги)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70632"/>
            <a:ext cx="164592" cy="164592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706624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1">
                <a:solidFill>
                  <a:srgbClr val="E6EDF3"/>
                </a:solidFill>
                <a:latin typeface="Segoe UI"/>
              </a:rPr>
              <a:t>Обоснованность · 0.20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706624"/>
            <a:ext cx="81381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>
                <a:solidFill>
                  <a:srgbClr val="8B98A9"/>
                </a:solidFill>
                <a:latin typeface="Segoe UI"/>
              </a:rPr>
              <a:t>цитаты из литературы + опора на граф + явный механизм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46120"/>
            <a:ext cx="164592" cy="164592"/>
          </a:xfrm>
          <a:prstGeom prst="rect">
            <a:avLst/>
          </a:prstGeom>
          <a:solidFill>
            <a:srgbClr val="7D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182112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1">
                <a:solidFill>
                  <a:srgbClr val="E6EDF3"/>
                </a:solidFill>
                <a:latin typeface="Segoe UI"/>
              </a:rPr>
              <a:t>Проверяемость · 0.15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182112"/>
            <a:ext cx="81381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>
                <a:solidFill>
                  <a:srgbClr val="8B98A9"/>
                </a:solidFill>
                <a:latin typeface="Segoe UI"/>
              </a:rPr>
              <a:t>полнота плана эксперимента + критерий успеха/провала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30168"/>
            <a:ext cx="82296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8B98A9"/>
                </a:solidFill>
                <a:latin typeface="Segoe UI"/>
              </a:rPr>
              <a:t>Итоговый балл = взвешенная сумма — веса по умолчанию: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77639"/>
            <a:ext cx="3287268" cy="310896"/>
          </a:xfrm>
          <a:prstGeom prst="rect">
            <a:avLst/>
          </a:prstGeom>
          <a:solidFill>
            <a:srgbClr val="57D9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343400"/>
            <a:ext cx="3319272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Segoe UI"/>
              </a:rPr>
              <a:t>Ценность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8B98A9"/>
                </a:solidFill>
                <a:latin typeface="Segoe UI"/>
              </a:rPr>
              <a:t>0.30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67911" y="3977639"/>
            <a:ext cx="2180844" cy="310896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67911" y="4343400"/>
            <a:ext cx="2212848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Segoe UI"/>
              </a:rPr>
              <a:t>Реализуемость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8B98A9"/>
                </a:solidFill>
                <a:latin typeface="Segoe UI"/>
              </a:rPr>
              <a:t>0.20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59" y="3977639"/>
            <a:ext cx="1627632" cy="310896"/>
          </a:xfrm>
          <a:prstGeom prst="rect">
            <a:avLst/>
          </a:prstGeom>
          <a:solidFill>
            <a:srgbClr val="C79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59" y="4343400"/>
            <a:ext cx="1659636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Segoe UI"/>
              </a:rPr>
              <a:t>Новизна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8B98A9"/>
                </a:solidFill>
                <a:latin typeface="Segoe UI"/>
              </a:rPr>
              <a:t>0.15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40396" y="3977639"/>
            <a:ext cx="2180844" cy="310896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40396" y="4343400"/>
            <a:ext cx="2212848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Segoe UI"/>
              </a:rPr>
              <a:t>Обоснованность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8B98A9"/>
                </a:solidFill>
                <a:latin typeface="Segoe UI"/>
              </a:rPr>
              <a:t>0.20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53244" y="3977639"/>
            <a:ext cx="1627632" cy="310896"/>
          </a:xfrm>
          <a:prstGeom prst="rect">
            <a:avLst/>
          </a:prstGeom>
          <a:solidFill>
            <a:srgbClr val="7D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53244" y="4343400"/>
            <a:ext cx="1659636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Segoe UI"/>
              </a:rPr>
              <a:t>Проверяемость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8B98A9"/>
                </a:solidFill>
                <a:latin typeface="Segoe UI"/>
              </a:rPr>
              <a:t>0.15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Segoe UI"/>
              </a:rPr>
              <a:t>Веса — слайдеры в интерфейсе: команда задаёт, что важнее; пересчёт рейтинга мгновенный, без повторной генерации. В карточке гипотезы виден вклад каждого критерия и текстовое объяснение каждой оценки.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685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>
                <a:solidFill>
                  <a:srgbClr val="E6EDF3"/>
                </a:solidFill>
                <a:latin typeface="Segoe UI"/>
              </a:rPr>
              <a:t>Эксперт в центре процесса + обучение на фидбэке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371600" cy="32004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Фабрика гипотез · AI-хакатон «Норникель» · Задача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4572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852160" cy="5029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FFB454"/>
                </a:solidFill>
                <a:latin typeface="Segoe UI"/>
              </a:rPr>
              <a:t>•  </a:t>
            </a:r>
            <a:r>
              <a:rPr sz="1500" b="0">
                <a:solidFill>
                  <a:srgbClr val="E6EDF3"/>
                </a:solidFill>
                <a:latin typeface="Segoe UI"/>
              </a:rPr>
              <a:t>«Принять / Отклонить» на каждой карточке — одна актуальная оценка, вердикт можно поменять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FFB454"/>
                </a:solidFill>
                <a:latin typeface="Segoe UI"/>
              </a:rPr>
              <a:t>•  </a:t>
            </a:r>
            <a:r>
              <a:rPr sz="1500" b="0">
                <a:solidFill>
                  <a:srgbClr val="E6EDF3"/>
                </a:solidFill>
                <a:latin typeface="Segoe UI"/>
              </a:rPr>
              <a:t>Оценки смещают рейтинг семантически похожих гипотез в пересчётах и следующих запусках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FFB454"/>
                </a:solidFill>
                <a:latin typeface="Segoe UI"/>
              </a:rPr>
              <a:t>•  </a:t>
            </a:r>
            <a:r>
              <a:rPr sz="1500" b="0">
                <a:solidFill>
                  <a:srgbClr val="E6EDF3"/>
                </a:solidFill>
                <a:latin typeface="Segoe UI"/>
              </a:rPr>
              <a:t>Порог похожести откалиброван по данным: поправка задевает только действительно близкие формулировки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FFB454"/>
                </a:solidFill>
                <a:latin typeface="Segoe UI"/>
              </a:rPr>
              <a:t>•  </a:t>
            </a:r>
            <a:r>
              <a:rPr sz="1500" b="0">
                <a:solidFill>
                  <a:srgbClr val="E6EDF3"/>
                </a:solidFill>
                <a:latin typeface="Segoe UI"/>
              </a:rPr>
              <a:t>Поправка за фидбэк видна в карточке отдельной строкой — тоже не чёрный ящик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FFB454"/>
                </a:solidFill>
                <a:latin typeface="Segoe UI"/>
              </a:rPr>
              <a:t>•  </a:t>
            </a:r>
            <a:r>
              <a:rPr sz="1500" b="0">
                <a:solidFill>
                  <a:srgbClr val="E6EDF3"/>
                </a:solidFill>
                <a:latin typeface="Segoe UI"/>
              </a:rPr>
              <a:t>Экспертная настройка весов + справка «что измеряет критерий» у каждого слайдера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371600"/>
            <a:ext cx="4937760" cy="2286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D3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572768"/>
            <a:ext cx="4480560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 b="0">
                <a:solidFill>
                  <a:srgbClr val="8B98A9"/>
                </a:solidFill>
                <a:latin typeface="Segoe UI"/>
              </a:rPr>
              <a:t>Цикл обучения: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0">
                <a:solidFill>
                  <a:srgbClr val="E6EDF3"/>
                </a:solidFill>
                <a:latin typeface="Segoe UI"/>
              </a:rPr>
              <a:t>оценка эксперта → feedback.json → эмбеддинг-сравнение с новыми гипотезами → поправка рейтинга ±0.15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7D9A3"/>
                </a:solidFill>
                <a:latin typeface="Segoe UI"/>
              </a:rPr>
              <a:t>подтверждённые направления всплывают, отклонённые — тонут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3931920"/>
            <a:ext cx="4937760" cy="17373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D3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4114800"/>
            <a:ext cx="4480560" cy="1371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 b="0">
                <a:solidFill>
                  <a:srgbClr val="8B98A9"/>
                </a:solidFill>
                <a:latin typeface="Segoe UI"/>
              </a:rPr>
              <a:t>Интеграция в процессы: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E6EDF3"/>
                </a:solidFill>
                <a:latin typeface="Segoe UI"/>
              </a:rPr>
              <a:t>DOCX-отчёт для руководства · CSV для аналитики · JSON-задачи для Jira/YouTrack · полный JSON через 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685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>
                <a:solidFill>
                  <a:srgbClr val="E6EDF3"/>
                </a:solidFill>
                <a:latin typeface="Segoe UI"/>
              </a:rPr>
              <a:t>Результаты живого прогона — фабрика КГМК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371600" cy="32004"/>
          </a:xfrm>
          <a:prstGeom prst="rect">
            <a:avLst/>
          </a:prstGeom>
          <a:solidFill>
            <a:srgbClr val="57D9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Фабрика гипотез · AI-хакатон «Норникель» · Задача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4572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2157984" cy="1005840"/>
          </a:xfrm>
          <a:prstGeom prst="roundRect">
            <a:avLst>
              <a:gd name="adj" fmla="val 6000"/>
            </a:avLst>
          </a:prstGeom>
          <a:solidFill>
            <a:srgbClr val="1C2330"/>
          </a:solidFill>
          <a:ln w="12700">
            <a:solidFill>
              <a:srgbClr val="2D3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E6EDF3"/>
                </a:solidFill>
                <a:latin typeface="Segoe UI"/>
              </a:rPr>
              <a:t>5 824 591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8B98A9"/>
                </a:solidFill>
                <a:latin typeface="Segoe UI"/>
              </a:rPr>
              <a:t>СМТ отвальных хвостов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9504" y="1280160"/>
            <a:ext cx="2157984" cy="1005840"/>
          </a:xfrm>
          <a:prstGeom prst="roundRect">
            <a:avLst>
              <a:gd name="adj" fmla="val 6000"/>
            </a:avLst>
          </a:prstGeom>
          <a:solidFill>
            <a:srgbClr val="1C2330"/>
          </a:solidFill>
          <a:ln w="12700">
            <a:solidFill>
              <a:srgbClr val="2D3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E6EDF3"/>
                </a:solidFill>
                <a:latin typeface="Segoe UI"/>
              </a:rPr>
              <a:t>10 392 т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8B98A9"/>
                </a:solidFill>
                <a:latin typeface="Segoe UI"/>
              </a:rPr>
              <a:t>потери Ni за период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30368" y="1280160"/>
            <a:ext cx="2157984" cy="1005840"/>
          </a:xfrm>
          <a:prstGeom prst="roundRect">
            <a:avLst>
              <a:gd name="adj" fmla="val 6000"/>
            </a:avLst>
          </a:prstGeom>
          <a:solidFill>
            <a:srgbClr val="1C2330"/>
          </a:solidFill>
          <a:ln w="12700">
            <a:solidFill>
              <a:srgbClr val="2D3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E6EDF3"/>
                </a:solidFill>
                <a:latin typeface="Segoe UI"/>
              </a:rPr>
              <a:t>4 230 т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8B98A9"/>
                </a:solidFill>
                <a:latin typeface="Segoe UI"/>
              </a:rPr>
              <a:t>потери Cu за период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71232" y="1280160"/>
            <a:ext cx="2157984" cy="1005840"/>
          </a:xfrm>
          <a:prstGeom prst="roundRect">
            <a:avLst>
              <a:gd name="adj" fmla="val 6000"/>
            </a:avLst>
          </a:prstGeom>
          <a:solidFill>
            <a:srgbClr val="1C2330"/>
          </a:solidFill>
          <a:ln w="12700">
            <a:solidFill>
              <a:srgbClr val="2D3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E6EDF3"/>
                </a:solidFill>
                <a:latin typeface="Segoe UI"/>
              </a:rPr>
              <a:t>16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8B98A9"/>
                </a:solidFill>
                <a:latin typeface="Segoe UI"/>
              </a:rPr>
              <a:t>гипотез сгенерировано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12096" y="1280160"/>
            <a:ext cx="2157984" cy="1005840"/>
          </a:xfrm>
          <a:prstGeom prst="roundRect">
            <a:avLst>
              <a:gd name="adj" fmla="val 6000"/>
            </a:avLst>
          </a:prstGeom>
          <a:solidFill>
            <a:srgbClr val="1C2330"/>
          </a:solidFill>
          <a:ln w="12700">
            <a:solidFill>
              <a:srgbClr val="2D3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E6EDF3"/>
                </a:solidFill>
                <a:latin typeface="Segoe UI"/>
              </a:rPr>
              <a:t>122 с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8B98A9"/>
                </a:solidFill>
                <a:latin typeface="Segoe UI"/>
              </a:rPr>
              <a:t>время генерации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06040"/>
            <a:ext cx="11119104" cy="932688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D3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24912"/>
            <a:ext cx="132588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57D9A3"/>
                </a:solidFill>
                <a:latin typeface="Segoe UI"/>
              </a:rPr>
              <a:t>№1 · 0.68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688336"/>
            <a:ext cx="9144000" cy="777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E6EDF3"/>
                </a:solidFill>
                <a:latin typeface="Segoe UI"/>
              </a:rPr>
              <a:t>Замена спиральных классификаторов на гидроциклоны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8B98A9"/>
                </a:solidFill>
                <a:latin typeface="Segoe UI"/>
              </a:rPr>
              <a:t>эффект 387–1 160 т Ni+Cu · ценность 1.00, реализуемость 0.60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21608"/>
            <a:ext cx="11119104" cy="932688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D3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40480"/>
            <a:ext cx="132588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57D9A3"/>
                </a:solidFill>
                <a:latin typeface="Segoe UI"/>
              </a:rPr>
              <a:t>№2 · 0.67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803904"/>
            <a:ext cx="9144000" cy="777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E6EDF3"/>
                </a:solidFill>
                <a:latin typeface="Segoe UI"/>
              </a:rPr>
              <a:t>Настройка гидроциклонов: уменьшение диаметра песковой насадки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8B98A9"/>
                </a:solidFill>
                <a:latin typeface="Segoe UI"/>
              </a:rPr>
              <a:t>эффект 193–773 т Ni+Cu · внедрение за недели, реализуемость 1.00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37176"/>
            <a:ext cx="11119104" cy="932688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D3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956048"/>
            <a:ext cx="132588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57D9A3"/>
                </a:solidFill>
                <a:latin typeface="Segoe UI"/>
              </a:rPr>
              <a:t>№3 · 0.66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919472"/>
            <a:ext cx="9144000" cy="777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E6EDF3"/>
                </a:solidFill>
                <a:latin typeface="Segoe UI"/>
              </a:rPr>
              <a:t>Гидрометаллургическое доизвлечение неизвлекаемых форм Ni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8B98A9"/>
                </a:solidFill>
                <a:latin typeface="Segoe UI"/>
              </a:rPr>
              <a:t>эффект 255–1 276 т Ni · ценность 0.99, но новый передел (0.25) — честно третья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98464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8B98A9"/>
                </a:solidFill>
                <a:latin typeface="Segoe UI"/>
              </a:rPr>
              <a:t>16 гипотез закрывают все формы потерь (шламы, сростки, неизвлекаемые формы) по обоим металлам — от настройки за недели до нового передела. Новизна считается честно: совпадение с известными решениями фабрик открыто показывается.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685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>
                <a:solidFill>
                  <a:srgbClr val="E6EDF3"/>
                </a:solidFill>
                <a:latin typeface="Segoe UI"/>
              </a:rPr>
              <a:t>Соответствие требованиям кейса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371600" cy="32004"/>
          </a:xfrm>
          <a:prstGeom prst="rect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Фабрика гипотез · AI-хакатон «Норникель» · Задача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4572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53212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7D9A3"/>
                </a:solidFill>
                <a:latin typeface="Segoe UI"/>
              </a:rPr>
              <a:t>✓  </a:t>
            </a:r>
            <a:r>
              <a:rPr sz="1300" b="1">
                <a:solidFill>
                  <a:srgbClr val="E6EDF3"/>
                </a:solidFill>
                <a:latin typeface="Segoe UI"/>
              </a:rPr>
              <a:t>Приём разнородных данных — </a:t>
            </a:r>
            <a:r>
              <a:rPr sz="1300" b="0">
                <a:solidFill>
                  <a:srgbClr val="8B98A9"/>
                </a:solidFill>
                <a:latin typeface="Segoe UI"/>
              </a:rPr>
              <a:t>xlsx + PDF + DOCX; устойчивость к #REF! и пропускам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20824"/>
            <a:ext cx="553212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7D9A3"/>
                </a:solidFill>
                <a:latin typeface="Segoe UI"/>
              </a:rPr>
              <a:t>✓  </a:t>
            </a:r>
            <a:r>
              <a:rPr sz="1300" b="1">
                <a:solidFill>
                  <a:srgbClr val="E6EDF3"/>
                </a:solidFill>
                <a:latin typeface="Segoe UI"/>
              </a:rPr>
              <a:t>Сущности и связи — </a:t>
            </a:r>
            <a:r>
              <a:rPr sz="1300" b="0">
                <a:solidFill>
                  <a:srgbClr val="8B98A9"/>
                </a:solidFill>
                <a:latin typeface="Segoe UI"/>
              </a:rPr>
              <a:t>онтология + LLM-извлечение триплетов из литературы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07208"/>
            <a:ext cx="553212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7D9A3"/>
                </a:solidFill>
                <a:latin typeface="Segoe UI"/>
              </a:rPr>
              <a:t>✓  </a:t>
            </a:r>
            <a:r>
              <a:rPr sz="1300" b="1">
                <a:solidFill>
                  <a:srgbClr val="E6EDF3"/>
                </a:solidFill>
                <a:latin typeface="Segoe UI"/>
              </a:rPr>
              <a:t>Паттерны и пробелы — </a:t>
            </a:r>
            <a:r>
              <a:rPr sz="1300" b="0">
                <a:solidFill>
                  <a:srgbClr val="8B98A9"/>
                </a:solidFill>
                <a:latin typeface="Segoe UI"/>
              </a:rPr>
              <a:t>правила диагностики: формы потерь × классы крупности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93592"/>
            <a:ext cx="553212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7D9A3"/>
                </a:solidFill>
                <a:latin typeface="Segoe UI"/>
              </a:rPr>
              <a:t>✓  </a:t>
            </a:r>
            <a:r>
              <a:rPr sz="1300" b="1">
                <a:solidFill>
                  <a:srgbClr val="E6EDF3"/>
                </a:solidFill>
                <a:latin typeface="Segoe UI"/>
              </a:rPr>
              <a:t>Генерация гипотез — </a:t>
            </a:r>
            <a:r>
              <a:rPr sz="1300" b="0">
                <a:solidFill>
                  <a:srgbClr val="8B98A9"/>
                </a:solidFill>
                <a:latin typeface="Segoe UI"/>
              </a:rPr>
              <a:t>GraphRAG: сигнал + подграф + цитаты → проверяемое утверждение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79976"/>
            <a:ext cx="553212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7D9A3"/>
                </a:solidFill>
                <a:latin typeface="Segoe UI"/>
              </a:rPr>
              <a:t>✓  </a:t>
            </a:r>
            <a:r>
              <a:rPr sz="1300" b="1">
                <a:solidFill>
                  <a:srgbClr val="E6EDF3"/>
                </a:solidFill>
                <a:latin typeface="Segoe UI"/>
              </a:rPr>
              <a:t>Ранжирование — </a:t>
            </a:r>
            <a:r>
              <a:rPr sz="1300" b="0">
                <a:solidFill>
                  <a:srgbClr val="8B98A9"/>
                </a:solidFill>
                <a:latin typeface="Segoe UI"/>
              </a:rPr>
              <a:t>5 объяснимых критериев, веса в UI, вклад каждого виден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553212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7D9A3"/>
                </a:solidFill>
                <a:latin typeface="Segoe UI"/>
              </a:rPr>
              <a:t>✓  </a:t>
            </a:r>
            <a:r>
              <a:rPr sz="1300" b="1">
                <a:solidFill>
                  <a:srgbClr val="E6EDF3"/>
                </a:solidFill>
                <a:latin typeface="Segoe UI"/>
              </a:rPr>
              <a:t>Обоснование и цитаты — </a:t>
            </a:r>
            <a:r>
              <a:rPr sz="1300" b="0">
                <a:solidFill>
                  <a:srgbClr val="8B98A9"/>
                </a:solidFill>
                <a:latin typeface="Segoe UI"/>
              </a:rPr>
              <a:t>карточка доказательств: источники (книга, страница), подграф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1234440"/>
            <a:ext cx="553212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7D9A3"/>
                </a:solidFill>
                <a:latin typeface="Segoe UI"/>
              </a:rPr>
              <a:t>✓  </a:t>
            </a:r>
            <a:r>
              <a:rPr sz="1300" b="1">
                <a:solidFill>
                  <a:srgbClr val="E6EDF3"/>
                </a:solidFill>
                <a:latin typeface="Segoe UI"/>
              </a:rPr>
              <a:t>Визуализация связей — </a:t>
            </a:r>
            <a:r>
              <a:rPr sz="1300" b="0">
                <a:solidFill>
                  <a:srgbClr val="8B98A9"/>
                </a:solidFill>
                <a:latin typeface="Segoe UI"/>
              </a:rPr>
              <a:t>интерактивный граф знаний в веб-интерфейсе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020824"/>
            <a:ext cx="553212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7D9A3"/>
                </a:solidFill>
                <a:latin typeface="Segoe UI"/>
              </a:rPr>
              <a:t>✓  </a:t>
            </a:r>
            <a:r>
              <a:rPr sz="1300" b="1">
                <a:solidFill>
                  <a:srgbClr val="E6EDF3"/>
                </a:solidFill>
                <a:latin typeface="Segoe UI"/>
              </a:rPr>
              <a:t>Экспорт и интеграция — </a:t>
            </a:r>
            <a:r>
              <a:rPr sz="1300" b="0">
                <a:solidFill>
                  <a:srgbClr val="8B98A9"/>
                </a:solidFill>
                <a:latin typeface="Segoe UI"/>
              </a:rPr>
              <a:t>DOCX / HTML / CSV / JSON-задачи для Jira/YouTrack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807208"/>
            <a:ext cx="553212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7D9A3"/>
                </a:solidFill>
                <a:latin typeface="Segoe UI"/>
              </a:rPr>
              <a:t>✓  </a:t>
            </a:r>
            <a:r>
              <a:rPr sz="1300" b="1">
                <a:solidFill>
                  <a:srgbClr val="E6EDF3"/>
                </a:solidFill>
                <a:latin typeface="Segoe UI"/>
              </a:rPr>
              <a:t>Фидбэк экспертов — </a:t>
            </a:r>
            <a:r>
              <a:rPr sz="1300" b="0">
                <a:solidFill>
                  <a:srgbClr val="8B98A9"/>
                </a:solidFill>
                <a:latin typeface="Segoe UI"/>
              </a:rPr>
              <a:t>принять/отклонить → поправка рейтинга похожих гипотез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93592"/>
            <a:ext cx="553212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7D9A3"/>
                </a:solidFill>
                <a:latin typeface="Segoe UI"/>
              </a:rPr>
              <a:t>✓  </a:t>
            </a:r>
            <a:r>
              <a:rPr sz="1300" b="1">
                <a:solidFill>
                  <a:srgbClr val="E6EDF3"/>
                </a:solidFill>
                <a:latin typeface="Segoe UI"/>
              </a:rPr>
              <a:t>Производительность — </a:t>
            </a:r>
            <a:r>
              <a:rPr sz="1300" b="0">
                <a:solidFill>
                  <a:srgbClr val="8B98A9"/>
                </a:solidFill>
                <a:latin typeface="Segoe UI"/>
              </a:rPr>
              <a:t>минуты: правила мгновенны, все вызовы LLM кэшируются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4379976"/>
            <a:ext cx="553212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7D9A3"/>
                </a:solidFill>
                <a:latin typeface="Segoe UI"/>
              </a:rPr>
              <a:t>✓  </a:t>
            </a:r>
            <a:r>
              <a:rPr sz="1300" b="1">
                <a:solidFill>
                  <a:srgbClr val="E6EDF3"/>
                </a:solidFill>
                <a:latin typeface="Segoe UI"/>
              </a:rPr>
              <a:t>Безопасность — </a:t>
            </a:r>
            <a:r>
              <a:rPr sz="1300" b="0">
                <a:solidFill>
                  <a:srgbClr val="8B98A9"/>
                </a:solidFill>
                <a:latin typeface="Segoe UI"/>
              </a:rPr>
              <a:t>локальное хранение; LLM-слой заменяем на on-prem модель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5166360"/>
            <a:ext cx="553212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57D9A3"/>
                </a:solidFill>
                <a:latin typeface="Segoe UI"/>
              </a:rPr>
              <a:t>✓  </a:t>
            </a:r>
            <a:r>
              <a:rPr sz="1300" b="1">
                <a:solidFill>
                  <a:srgbClr val="E6EDF3"/>
                </a:solidFill>
                <a:latin typeface="Segoe UI"/>
              </a:rPr>
              <a:t>Мультиязычность — </a:t>
            </a:r>
            <a:r>
              <a:rPr sz="1300" b="0">
                <a:solidFill>
                  <a:srgbClr val="8B98A9"/>
                </a:solidFill>
                <a:latin typeface="Segoe UI"/>
              </a:rPr>
              <a:t>мультиязычные эмбеддинги; литература RU/EN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685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>
                <a:solidFill>
                  <a:srgbClr val="E6EDF3"/>
                </a:solidFill>
                <a:latin typeface="Segoe UI"/>
              </a:rPr>
              <a:t>Масштабируемость и развитие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371600" cy="32004"/>
          </a:xfrm>
          <a:prstGeom prst="rect">
            <a:avLst/>
          </a:prstGeom>
          <a:solidFill>
            <a:srgbClr val="C79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Фабрика гипотез · AI-хакатон «Норникель» · Задача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4572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B98A9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035040" cy="5029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C792EA"/>
                </a:solidFill>
                <a:latin typeface="Segoe UI"/>
              </a:rPr>
              <a:t>•  </a:t>
            </a:r>
            <a:r>
              <a:rPr sz="1500" b="0">
                <a:solidFill>
                  <a:srgbClr val="E6EDF3"/>
                </a:solidFill>
                <a:latin typeface="Segoe UI"/>
              </a:rPr>
              <a:t>Новый домен (полимеры, композиты, металлургия) = новая онтология + правила диагностики; ядро не меняется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C792EA"/>
                </a:solidFill>
                <a:latin typeface="Segoe UI"/>
              </a:rPr>
              <a:t>•  </a:t>
            </a:r>
            <a:r>
              <a:rPr sz="1500" b="0">
                <a:solidFill>
                  <a:srgbClr val="E6EDF3"/>
                </a:solidFill>
                <a:latin typeface="Segoe UI"/>
              </a:rPr>
              <a:t>LLM-слой изолирован в одном модуле → замена на локальную on-prem модель для конфиденциальных данных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C792EA"/>
                </a:solidFill>
                <a:latin typeface="Segoe UI"/>
              </a:rPr>
              <a:t>•  </a:t>
            </a:r>
            <a:r>
              <a:rPr sz="1500" b="0">
                <a:solidFill>
                  <a:srgbClr val="E6EDF3"/>
                </a:solidFill>
                <a:latin typeface="Segoe UI"/>
              </a:rPr>
              <a:t>Без тяжёлой инфраструктуры: векторный индекс — numpy, граф — JSON, разворачивается за минуты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C792EA"/>
                </a:solidFill>
                <a:latin typeface="Segoe UI"/>
              </a:rPr>
              <a:t>•  </a:t>
            </a:r>
            <a:r>
              <a:rPr sz="1500" b="0">
                <a:solidFill>
                  <a:srgbClr val="E6EDF3"/>
                </a:solidFill>
                <a:latin typeface="Segoe UI"/>
              </a:rPr>
              <a:t>Дальше: дообучение на исходах экспериментов, конструктор дорожных карт, подключение Materials Project / патентных баз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371600"/>
            <a:ext cx="4709160" cy="2103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D3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1554480"/>
            <a:ext cx="4251960" cy="1737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0">
                <a:solidFill>
                  <a:srgbClr val="8B98A9"/>
                </a:solidFill>
                <a:latin typeface="Segoe UI"/>
              </a:rPr>
              <a:t>Стек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0">
                <a:solidFill>
                  <a:srgbClr val="E6EDF3"/>
                </a:solidFill>
                <a:latin typeface="Segoe UI"/>
              </a:rPr>
              <a:t>Python · FastAPI · YandexGPT + эмбеддинги Yandex AI Studio · numpy · PyMuPDF · python-docx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8B98A9"/>
                </a:solidFill>
                <a:latin typeface="Segoe UI"/>
              </a:rPr>
              <a:t>Офлайн-тесты · Dockerfile · CLI и веб-интерфейс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3749039"/>
            <a:ext cx="4709160" cy="1920240"/>
          </a:xfrm>
          <a:prstGeom prst="roundRect">
            <a:avLst>
              <a:gd name="adj" fmla="val 6000"/>
            </a:avLst>
          </a:prstGeom>
          <a:solidFill>
            <a:srgbClr val="1C2330"/>
          </a:solidFill>
          <a:ln w="1651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3950208"/>
            <a:ext cx="4251960" cy="1554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57D9A3"/>
                </a:solidFill>
                <a:latin typeface="Segoe UI"/>
              </a:rPr>
              <a:t>Итог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E6EDF3"/>
                </a:solidFill>
                <a:latin typeface="Segoe UI"/>
              </a:rPr>
              <a:t>Формирование повестки НИОКР: с недель — до часов. Знания фабрик перестают зависеть от отдельных людей и становятся накапливаемым активом.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4DA3FF"/>
                </a:solidFill>
                <a:latin typeface="Segoe UI"/>
              </a:rPr>
              <a:t>github.com/kartunovv/nornickel-hackathon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